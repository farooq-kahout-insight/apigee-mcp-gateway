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46166B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1463040"/>
            <a:ext cx="3108960" cy="3108960"/>
          </a:xfrm>
          <a:prstGeom prst="ellipse">
            <a:avLst/>
          </a:prstGeom>
          <a:solidFill>
            <a:srgbClr val="E6007E">
              <a:alpha val="8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108960"/>
            <a:ext cx="3291840" cy="329184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4480560"/>
            <a:ext cx="2011680" cy="2011680"/>
          </a:xfrm>
          <a:prstGeom prst="ellipse">
            <a:avLst/>
          </a:prstGeom>
          <a:solidFill>
            <a:srgbClr val="46166B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1188720"/>
            <a:ext cx="1005840" cy="1005840"/>
          </a:xfrm>
          <a:prstGeom prst="ellipse">
            <a:avLst/>
          </a:prstGeom>
          <a:solidFill>
            <a:srgbClr val="FBE4F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57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Agentic Workflows
</a:t>
            </a:r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Apigee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21208" y="36118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Airlock — a zero-trust gateway for AI agents, MCP tools and model endpoints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1208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5623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</a:t>
            </a:r>
            <a:pPr indent="0" marL="0">
              <a:buNone/>
            </a:pPr>
            <a:r>
              <a:rPr lang="en-US" sz="22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1168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Do Not Copy or Distribute. © 2026 Insight. All Rights Reserved.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of AI &amp; Agent Governance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security pain points of agentic workflows — and the Apigee control that closes each one in this demo.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113842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977640"/>
                <a:gridCol w="5440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PAIN POINT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APIGEE SOLVES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166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Permission Overreach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inherit over-permissive credentials and execute unauthorized system modifications.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Products bind each agent key to explicit verbs &amp; paths (reader vs. operator). Scope is enforced in PreFlow — before any proxy logic — so no prompt or retry gets past it.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 Exposure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servers and LLM clients hold raw backend tokens (GitHub PAT, Slack bot token, model API keys); one prompt injection can spend them fully.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Credentials live only in an encrypted KVM. Apigee injects the real token at target time — it never exists on the agent's side of the wire, so a stolen config yields only a revocable consumer key.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Shadow Tools &amp; Unbounded APIs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Slack bot token reaches ~200 flat-namespace methods; a PAT reaches all of GitHub — unvetted surface becomes a backdoor.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resource allowlists: 1 GitHub endpoint, 3 Slack methods; everything else is refused and never forwarded. Repo, channel and model allowlists cap where each credential may be spent.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Runaway Token Costs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 trapped in execution loops hammer LLM endpoints and enterprise APIs, spiking budgets and triggering outages.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SpikeArrest + separate per-identity quotas for tools and model calls, an enforced max_tokens ceiling, and a token-spend metric with an alert per agent per hour.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Threat Prevention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Indirect prompt injection tricks agents into paging humans, impersonating users or exfiltrating data through legitimate writes.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Payloads are rebuilt from allowlisted fields ({channel, text} / {title, body}); @channel markup is defused; JSON bombs &amp; injection shapes are rejected inbound; secrets &amp; PII are redacted outbound.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&amp; Forensics Gaps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Opaque multi-step reasoning makes post-incident root-cause analysis impossible.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JSON audit record per request — refusals included — with fingerprinted keys, model &amp; token totals, written to Cloud Logging; alerts fire on denied-write bursts even when nothing succeeds.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6419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01168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Do Not Copy or Distribute. © 2026 Insight. All Rights Reserved.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5214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Airlock Works </a:t>
            </a:r>
            <a:pPr indent="0" marL="0">
              <a:buNone/>
            </a:pPr>
            <a:r>
              <a:rPr lang="en-US" sz="30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call, one gate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234440"/>
            <a:ext cx="2514600" cy="3931920"/>
          </a:xfrm>
          <a:prstGeom prst="roundRect">
            <a:avLst>
              <a:gd name="adj" fmla="val 2909"/>
            </a:avLst>
          </a:prstGeom>
          <a:solidFill>
            <a:srgbClr val="F3EEF9"/>
          </a:solidFill>
          <a:ln w="12700">
            <a:solidFill>
              <a:srgbClr val="4616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(HOST)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4616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74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Reader
</a:t>
            </a:r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· 30 LLM calls/hr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880360"/>
            <a:ext cx="21488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600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971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Operator
</a:t>
            </a:r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writes · 100 LLM calls/hr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40690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only an Apigee consumer key.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backend credentials — agents refuse to start if one is present.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3200400"/>
            <a:ext cx="685800" cy="0"/>
          </a:xfrm>
          <a:prstGeom prst="line">
            <a:avLst/>
          </a:prstGeom>
          <a:noFill/>
          <a:ln w="317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944368" y="26700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only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03320" y="105156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3D1152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1207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GATEWAY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8620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zero-trust policy enforcement &amp; credential airlock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0" y="186537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70832" y="1828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VerifyAPIKey  </a:t>
            </a:r>
            <a:pPr indent="0" marL="0">
              <a:buNone/>
            </a:pPr>
            <a:r>
              <a:rPr lang="en-US" sz="900" dirty="0">
                <a:solidFill>
                  <a:srgbClr val="D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calling — identity, not location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31920" y="245973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70832" y="242316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Product scope  </a:t>
            </a:r>
            <a:pPr indent="0" marL="0">
              <a:buNone/>
            </a:pPr>
            <a:r>
              <a:rPr lang="en-US" sz="900" dirty="0">
                <a:solidFill>
                  <a:srgbClr val="D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identity may do; reader writes die here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31920" y="305409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70832" y="3017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SpikeArrest + quotas  </a:t>
            </a:r>
            <a:pPr indent="0" marL="0">
              <a:buNone/>
            </a:pPr>
            <a:r>
              <a:rPr lang="en-US" sz="900" dirty="0">
                <a:solidFill>
                  <a:srgbClr val="D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fast &amp; how much — tool and model buckets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364845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70832" y="36118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screen  </a:t>
            </a:r>
            <a:pPr indent="0" marL="0">
              <a:buNone/>
            </a:pPr>
            <a:r>
              <a:rPr lang="en-US" sz="900" dirty="0">
                <a:solidFill>
                  <a:srgbClr val="D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bombs &amp; injection shapes rejected inbound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31920" y="424281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70832" y="42062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KVM  </a:t>
            </a:r>
            <a:pPr indent="0" marL="0">
              <a:buNone/>
            </a:pPr>
            <a:r>
              <a:rPr lang="en-US" sz="900" dirty="0">
                <a:solidFill>
                  <a:srgbClr val="D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backend credential injected at target time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31920" y="4837176"/>
            <a:ext cx="310896" cy="310896"/>
          </a:xfrm>
          <a:prstGeom prst="ellipse">
            <a:avLst/>
          </a:prstGeom>
          <a:solidFill>
            <a:srgbClr val="E6007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70832" y="48006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Redaction + sanitizer  </a:t>
            </a:r>
            <a:pPr indent="0" marL="0">
              <a:buNone/>
            </a:pPr>
            <a:r>
              <a:rPr lang="en-US" sz="900" dirty="0">
                <a:solidFill>
                  <a:srgbClr val="D9C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secrets, PII &amp; Apigee internals never leave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1920240"/>
            <a:ext cx="548640" cy="0"/>
          </a:xfrm>
          <a:prstGeom prst="line">
            <a:avLst/>
          </a:prstGeom>
          <a:noFill/>
          <a:ln w="25400">
            <a:solidFill>
              <a:srgbClr val="4616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95360" y="1325880"/>
            <a:ext cx="3200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1417320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
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on 1 allowlisted repo · payload rebuilt — no assignees, labels or milestones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3319272"/>
            <a:ext cx="548640" cy="0"/>
          </a:xfrm>
          <a:prstGeom prst="line">
            <a:avLst/>
          </a:prstGeom>
          <a:noFill/>
          <a:ln w="25400">
            <a:solidFill>
              <a:srgbClr val="4616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595360" y="2724912"/>
            <a:ext cx="3200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2816352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
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methods only · per-channel KVM allowlist · @channel &amp; impersonation defused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01000" y="4718304"/>
            <a:ext cx="548640" cy="0"/>
          </a:xfrm>
          <a:prstGeom prst="line">
            <a:avLst/>
          </a:prstGeom>
          <a:noFill/>
          <a:ln w="25400">
            <a:solidFill>
              <a:srgbClr val="4616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95360" y="4123944"/>
            <a:ext cx="32004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4215384"/>
            <a:ext cx="29260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· OpenRouter
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allowlist · enforced token ceiling · provider errors never forwarded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882128" y="5486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credential injected — the agent never sees 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5760720"/>
            <a:ext cx="11384280" cy="566928"/>
          </a:xfrm>
          <a:prstGeom prst="roundRect">
            <a:avLst>
              <a:gd name="adj" fmla="val 9677"/>
            </a:avLst>
          </a:prstGeom>
          <a:solidFill>
            <a:srgbClr val="FBE4F1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83387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Observability: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JSON record per request — refusals included — to Cloud Logging · fingerprinted keys · alerts on denied-write bursts &amp; token spend · ~95 ms gateway overhead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6419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01168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Do Not Copy or Distribute. © 2026 Insight. All Rights Reserved.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5214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Airlock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Service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3017520" cy="4206240"/>
          </a:xfrm>
          <a:prstGeom prst="roundRect">
            <a:avLst>
              <a:gd name="adj" fmla="val 3030"/>
            </a:avLst>
          </a:prstGeom>
          <a:solidFill>
            <a:srgbClr val="3D115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Platform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6517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4A7EBB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1284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Reader / Operator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779776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4A7EBB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77977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client (stdio server)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3346704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E6007E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346704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client (OpenAI-compatible)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42519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D5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backend credentials in the agent process — startup guard exits if one is found.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377440"/>
            <a:ext cx="502920" cy="0"/>
          </a:xfrm>
          <a:prstGeom prst="line">
            <a:avLst/>
          </a:prstGeom>
          <a:noFill/>
          <a:ln w="317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3931920"/>
            <a:ext cx="502920" cy="0"/>
          </a:xfrm>
          <a:prstGeom prst="line">
            <a:avLst/>
          </a:prstGeom>
          <a:noFill/>
          <a:ln w="31750">
            <a:solidFill>
              <a:srgbClr val="E6007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23360" y="118872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F3EEF9"/>
          </a:solidFill>
          <a:ln w="15875">
            <a:solidFill>
              <a:srgbClr val="4616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Runtime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06240" y="1737360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E6007E"/>
          </a:solidFill>
          <a:ln/>
        </p:spPr>
      </p:sp>
      <p:sp>
        <p:nvSpPr>
          <p:cNvPr id="19" name="Text 17"/>
          <p:cNvSpPr/>
          <p:nvPr/>
        </p:nvSpPr>
        <p:spPr>
          <a:xfrm>
            <a:off x="4315968" y="173736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LLM Gateway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llm-v1 · model allowlist · token ceiling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2450592"/>
            <a:ext cx="3657600" cy="566928"/>
          </a:xfrm>
          <a:prstGeom prst="roundRect">
            <a:avLst>
              <a:gd name="adj" fmla="val 8065"/>
            </a:avLst>
          </a:prstGeom>
          <a:solidFill>
            <a:srgbClr val="1E7145"/>
          </a:solidFill>
          <a:ln/>
        </p:spPr>
      </p:sp>
      <p:sp>
        <p:nvSpPr>
          <p:cNvPr id="21" name="Text 19"/>
          <p:cNvSpPr/>
          <p:nvPr/>
        </p:nvSpPr>
        <p:spPr>
          <a:xfrm>
            <a:off x="4315968" y="24505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Proxies 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github-v1 · slack-v1 · resource allowlists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0"/>
            <a:ext cx="3657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616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320040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   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VerifyAPIKey · Product scope · SpikeArrest · Quota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3858768"/>
            <a:ext cx="3657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616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15968" y="38587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KVM   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 · bot token · model key · allowlists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4517136"/>
            <a:ext cx="365760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4616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15968" y="45171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Flows   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 security · redaction · fault sanitizer · audit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92440" y="2011680"/>
            <a:ext cx="502920" cy="0"/>
          </a:xfrm>
          <a:prstGeom prst="line">
            <a:avLst/>
          </a:prstGeom>
          <a:noFill/>
          <a:ln w="25400">
            <a:solidFill>
              <a:srgbClr val="4616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92440" y="3154680"/>
            <a:ext cx="502920" cy="0"/>
          </a:xfrm>
          <a:prstGeom prst="line">
            <a:avLst/>
          </a:prstGeom>
          <a:noFill/>
          <a:ln w="25400">
            <a:solidFill>
              <a:srgbClr val="4616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092440" y="4297680"/>
            <a:ext cx="502920" cy="0"/>
          </a:xfrm>
          <a:prstGeom prst="line">
            <a:avLst/>
          </a:prstGeom>
          <a:noFill/>
          <a:ln w="25400">
            <a:solidFill>
              <a:srgbClr val="4616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641080" y="14173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FFF8E7"/>
          </a:solidFill>
          <a:ln w="9525">
            <a:solidFill>
              <a:srgbClr val="D9A4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59952" y="14904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Providers
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· OpenAI-compatible endpoints — key injected, spend metered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41080" y="25603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FFF8E7"/>
          </a:solidFill>
          <a:ln w="9525">
            <a:solidFill>
              <a:srgbClr val="D9A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26334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Systems
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(1 repo) · Slack (named channels) — tokens never leave the KVM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641080" y="3703320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FFF8E7"/>
          </a:solidFill>
          <a:ln w="9525">
            <a:solidFill>
              <a:srgbClr val="D9A4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9952" y="37764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 &amp; Monitoring
</a:t>
            </a:r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agent-airlock-audit log · denied-write &amp; token-spend alerts · Analytics views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11480" y="5623560"/>
            <a:ext cx="11384280" cy="621792"/>
          </a:xfrm>
          <a:prstGeom prst="roundRect">
            <a:avLst>
              <a:gd name="adj" fmla="val 8824"/>
            </a:avLst>
          </a:prstGeom>
          <a:solidFill>
            <a:srgbClr val="F3EEF9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56692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boundary: 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call and every model call leaves the agent as plain HTTPS + consumer key. Apigee authenticates, scopes, screens, injects the real credential, and audits — the blast radius of a fully compromised agent is exactly what the policies allow.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6419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01168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Do Not Copy or Distribute. © 2026 Insight. All Rights Reserved.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5214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Demo: </a:t>
            </a:r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Airlock on Apigee 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3931920" cy="4160520"/>
          </a:xfrm>
          <a:prstGeom prst="roundRect">
            <a:avLst>
              <a:gd name="adj" fmla="val 1860"/>
            </a:avLst>
          </a:prstGeom>
          <a:solidFill>
            <a:srgbClr val="F3EEF9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DEPLOYED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1792" y="1600200"/>
            <a:ext cx="3566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Apigee X eval org behind an external ALB + PSC, TLS on a managed cert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proxies: github-v1, slack-v1, llm-v1 (OpenAI-compatible model plane)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shared flows: inbound security, outbound redaction, fault sanitizer, target hygiene, audit build + log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KVMs: backend-secrets (PAT, bot token, model key) + gateway-config (allowlists)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MCP server for Claude Code + two ADK agents — model and tools through one gateway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scripts: deploy, provision, monitoring, reports, smoke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0" y="1051560"/>
            <a:ext cx="3657600" cy="4160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IDENTITIES, ONE CODEBASE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3291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16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16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166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GitHub issues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+ create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history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+ post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chat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/ hr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hr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quota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hr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hr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754880" y="34290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tools, same URLs — authority comes from the API Product bound to the key, decided before any proxy logic runs. Scope changes are a product edit, not a redeploy.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458200" y="1051560"/>
            <a:ext cx="3337560" cy="932688"/>
          </a:xfrm>
          <a:prstGeom prst="roundRect">
            <a:avLst>
              <a:gd name="adj" fmla="val 5882"/>
            </a:avLst>
          </a:prstGeom>
          <a:solidFill>
            <a:srgbClr val="F3EEF9"/>
          </a:solidFill>
          <a:ln/>
        </p:spPr>
      </p:sp>
      <p:sp>
        <p:nvSpPr>
          <p:cNvPr id="11" name="Text 8"/>
          <p:cNvSpPr/>
          <p:nvPr/>
        </p:nvSpPr>
        <p:spPr>
          <a:xfrm>
            <a:off x="8595360" y="1124712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9784080" y="1124712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credentials in the agent's process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458200" y="2121408"/>
            <a:ext cx="3337560" cy="932688"/>
          </a:xfrm>
          <a:prstGeom prst="roundRect">
            <a:avLst>
              <a:gd name="adj" fmla="val 5882"/>
            </a:avLst>
          </a:prstGeom>
          <a:solidFill>
            <a:srgbClr val="FBE4F1"/>
          </a:solidFill>
          <a:ln/>
        </p:spPr>
      </p:sp>
      <p:sp>
        <p:nvSpPr>
          <p:cNvPr id="14" name="Text 11"/>
          <p:cNvSpPr/>
          <p:nvPr/>
        </p:nvSpPr>
        <p:spPr>
          <a:xfrm>
            <a:off x="8595360" y="2194560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784080" y="2194560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endpoint + Slack methods reachable — all else refused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458200" y="3191256"/>
            <a:ext cx="3337560" cy="932688"/>
          </a:xfrm>
          <a:prstGeom prst="roundRect">
            <a:avLst>
              <a:gd name="adj" fmla="val 5882"/>
            </a:avLst>
          </a:prstGeom>
          <a:solidFill>
            <a:srgbClr val="F3EEF9"/>
          </a:solidFill>
          <a:ln/>
        </p:spPr>
      </p:sp>
      <p:sp>
        <p:nvSpPr>
          <p:cNvPr id="17" name="Text 14"/>
          <p:cNvSpPr/>
          <p:nvPr/>
        </p:nvSpPr>
        <p:spPr>
          <a:xfrm>
            <a:off x="8595360" y="3264408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61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9784080" y="3264408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regression assertions (smoke.sh, 12 milestones)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458200" y="4261104"/>
            <a:ext cx="3337560" cy="932688"/>
          </a:xfrm>
          <a:prstGeom prst="roundRect">
            <a:avLst>
              <a:gd name="adj" fmla="val 5882"/>
            </a:avLst>
          </a:prstGeom>
          <a:solidFill>
            <a:srgbClr val="FBE4F1"/>
          </a:solidFill>
          <a:ln/>
        </p:spPr>
      </p:sp>
      <p:sp>
        <p:nvSpPr>
          <p:cNvPr id="20" name="Text 17"/>
          <p:cNvSpPr/>
          <p:nvPr/>
        </p:nvSpPr>
        <p:spPr>
          <a:xfrm>
            <a:off x="8595360" y="4334256"/>
            <a:ext cx="1143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784080" y="4334256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requests audited — every refusal and every token spent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11480" y="5440680"/>
            <a:ext cx="11384280" cy="777240"/>
          </a:xfrm>
          <a:prstGeom prst="roundRect">
            <a:avLst>
              <a:gd name="adj" fmla="val 7059"/>
            </a:avLst>
          </a:prstGeom>
          <a:solidFill>
            <a:srgbClr val="3D1152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" y="5513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B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21792" y="576072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suite passes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▸   identity decides scope</a:t>
            </a:r>
            <a:pPr indent="0" marL="0">
              <a:buNone/>
            </a:pPr>
            <a:r>
              <a:rPr lang="en-US" sz="1050" b="1" dirty="0">
                <a:solidFill>
                  <a:srgbClr val="F5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▸   credential never seen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▸   hostile in / sanitized out</a:t>
            </a:r>
            <a:pPr indent="0" marL="0">
              <a:buNone/>
            </a:pPr>
            <a:r>
              <a:rPr lang="en-US" sz="1050" b="1" dirty="0">
                <a:solidFill>
                  <a:srgbClr val="F5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▸   model behind the airlock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▸   audit replays the session</a:t>
            </a:r>
            <a:pPr indent="0" marL="0">
              <a:buNone/>
            </a:pPr>
            <a:r>
              <a:rPr lang="en-US" sz="1050" b="1" dirty="0">
                <a:solidFill>
                  <a:srgbClr val="F5C7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▸   abuse raises an alarm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11480" y="6419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011680" y="64556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Proprietary &amp; Confidential. Do Not Copy or Distribute. © 2026 Insight. All Rights Reserved.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52144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2026-08-25T21:39:12Z</dcterms:created>
  <dcterms:modified xsi:type="dcterms:W3CDTF">2026-08-25T21:39:12Z</dcterms:modified>
</cp:coreProperties>
</file>